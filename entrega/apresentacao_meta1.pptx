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777240"/>
            <a:ext cx="118872" cy="5212080"/>
          </a:xfrm>
          <a:prstGeom prst="rect">
            <a:avLst/>
          </a:prstGeom>
          <a:solidFill>
            <a:srgbClr val="97D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097280"/>
            <a:ext cx="969264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Liberation Sans"/>
              </a:rPr>
              <a:t>HikeFlora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240280"/>
            <a:ext cx="96926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>
                <a:solidFill>
                  <a:srgbClr val="FFFFFF"/>
                </a:solidFill>
                <a:latin typeface="Liberation Sans"/>
              </a:rPr>
              <a:t>Identificação visual de cinco espécies de plantas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63240"/>
            <a:ext cx="96012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D5EDD9"/>
                </a:solidFill>
                <a:latin typeface="Liberation Sans"/>
              </a:rPr>
              <a:t>Meta I — dataset, modelos e teste independente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349240"/>
            <a:ext cx="960120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Liberation Sans"/>
              </a:rPr>
              <a:t>Rodrigo Cerdeira · Giancarlo Peixoto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Liberation Sans"/>
              </a:rPr>
              <a:t>Inteligência Computacional · 2026/27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10881360" cy="52120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5F46"/>
                </a:solidFill>
                <a:latin typeface="Liberation Sans"/>
              </a:rPr>
              <a:t>Problema e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D67"/>
                </a:solidFill>
                <a:latin typeface="Liberation Sans"/>
              </a:rPr>
              <a:t>A Meta I avalia o classificador; as fichas de riscos pertencem a fases posteriores.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2801"/>
          </a:xfrm>
          <a:prstGeom prst="rect">
            <a:avLst/>
          </a:prstGeom>
          <a:solidFill>
            <a:srgbClr val="E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94183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D67"/>
                </a:solidFill>
                <a:latin typeface="Liberation Sans"/>
              </a:rPr>
              <a:t>HikeFlora  ·  Inteligência Computacional  ·  Meta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5F46"/>
                </a:solidFill>
                <a:latin typeface="Liberation San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36192"/>
            <a:ext cx="32918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536192"/>
            <a:ext cx="82296" cy="3383280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673351"/>
            <a:ext cx="294436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5F46"/>
                </a:solidFill>
                <a:latin typeface="Liberation Sans"/>
              </a:rPr>
              <a:t>Entrada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76272"/>
            <a:ext cx="2907792" cy="2633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Fotografia de uma planta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RGB · 128 × 128 píxeis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536192"/>
            <a:ext cx="32918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536192"/>
            <a:ext cx="82296" cy="3383280"/>
          </a:xfrm>
          <a:prstGeom prst="rect">
            <a:avLst/>
          </a:prstGeom>
          <a:solidFill>
            <a:srgbClr val="17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1673351"/>
            <a:ext cx="294436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4966"/>
                </a:solidFill>
                <a:latin typeface="Liberation Sans"/>
              </a:rPr>
              <a:t>Saída atual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176272"/>
            <a:ext cx="2907792" cy="2633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Espécie provável entre cinco classes selecionadas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536192"/>
            <a:ext cx="32918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536192"/>
            <a:ext cx="82296" cy="3383280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673351"/>
            <a:ext cx="294436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5F46"/>
                </a:solidFill>
                <a:latin typeface="Liberation Sans"/>
              </a:rPr>
              <a:t>Limite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176272"/>
            <a:ext cx="2907792" cy="2633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A previsão visual não indica se a planta é segura para ingestão ou contacto.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9848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5F46"/>
                </a:solidFill>
                <a:latin typeface="Liberation Sans"/>
              </a:rPr>
              <a:t>Visão futura: alternativas, resultado inconclusivo e informação de risco com fontes.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10881360" cy="52120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5F46"/>
                </a:solidFill>
                <a:latin typeface="Liberation Sans"/>
              </a:rPr>
              <a:t>Dataset: 11 000 fotografias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D67"/>
                </a:solidFill>
                <a:latin typeface="Liberation Sans"/>
              </a:rPr>
              <a:t>Pl@ntNet-300K-v2 · cinco espécies equilibradas · partições oficiais preservadas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2801"/>
          </a:xfrm>
          <a:prstGeom prst="rect">
            <a:avLst/>
          </a:prstGeom>
          <a:solidFill>
            <a:srgbClr val="E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94183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D67"/>
                </a:solidFill>
                <a:latin typeface="Liberation Sans"/>
              </a:rPr>
              <a:t>HikeFlora  ·  Inteligência Computacional  ·  Meta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5F46"/>
                </a:solidFill>
                <a:latin typeface="Liberation San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10835640" cy="1097280"/>
          </a:xfrm>
          <a:prstGeom prst="roundRect">
            <a:avLst/>
          </a:prstGeom>
          <a:solidFill>
            <a:srgbClr val="E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292608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B5F46"/>
                </a:solidFill>
                <a:latin typeface="Liberation Sans"/>
              </a:rPr>
              <a:t>8 800 treino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600200"/>
            <a:ext cx="310896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B5F46"/>
                </a:solidFill>
                <a:latin typeface="Liberation Sans"/>
              </a:rPr>
              <a:t>1 100 validação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600200"/>
            <a:ext cx="274320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B5F46"/>
                </a:solidFill>
                <a:latin typeface="Liberation Sans"/>
              </a:rPr>
              <a:t>1 100 teste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98648"/>
            <a:ext cx="52120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898648"/>
            <a:ext cx="82296" cy="2651760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035808"/>
            <a:ext cx="48646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5F46"/>
                </a:solidFill>
                <a:latin typeface="Liberation Sans"/>
              </a:rPr>
              <a:t>Espécies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538728"/>
            <a:ext cx="4828032" cy="19019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Gerânio · alfazema · papoila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Trevo-branco · morangueiro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2 200 imagens por espécie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898648"/>
            <a:ext cx="5376672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2898648"/>
            <a:ext cx="82296" cy="2651760"/>
          </a:xfrm>
          <a:prstGeom prst="rect">
            <a:avLst/>
          </a:prstGeom>
          <a:solidFill>
            <a:srgbClr val="17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035808"/>
            <a:ext cx="50292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4966"/>
                </a:solidFill>
                <a:latin typeface="Liberation Sans"/>
              </a:rPr>
              <a:t>Critérios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538728"/>
            <a:ext cx="4992624" cy="19019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Flor, folha, fruto ou planta inteira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Semente 42 · sem observações repetidas entre as partições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1069848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D67"/>
                </a:solidFill>
                <a:latin typeface="Liberation Sans"/>
              </a:rPr>
              <a:t>Fonte: Pl@ntNet-300K-v2, Zenodo 10419064. As imagens não são guardadas no Git.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10881360" cy="52120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5F46"/>
                </a:solidFill>
                <a:latin typeface="Liberation Sans"/>
              </a:rPr>
              <a:t>Duas arquiteturas iniciais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D67"/>
                </a:solidFill>
                <a:latin typeface="Liberation Sans"/>
              </a:rPr>
              <a:t>Mesmas imagens e parâmetros de treino: Adam 0,001 · batch 32 · 10 épocas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2801"/>
          </a:xfrm>
          <a:prstGeom prst="rect">
            <a:avLst/>
          </a:prstGeom>
          <a:solidFill>
            <a:srgbClr val="E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94183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D67"/>
                </a:solidFill>
                <a:latin typeface="Liberation Sans"/>
              </a:rPr>
              <a:t>HikeFlora  ·  Inteligência Computacional  ·  Meta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5F46"/>
                </a:solidFill>
                <a:latin typeface="Liberation San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63040"/>
            <a:ext cx="5230368" cy="33192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63040"/>
            <a:ext cx="82296" cy="3319272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600200"/>
            <a:ext cx="4882896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5F46"/>
                </a:solidFill>
                <a:latin typeface="Liberation Sans"/>
              </a:rPr>
              <a:t>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03120"/>
            <a:ext cx="4846320" cy="2569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Rescaling → Flatten → Dense 64 (ReLU) → Dense 5 (softmax)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3 146 117 parâmetros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5321808" cy="33192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63040"/>
            <a:ext cx="82296" cy="3319272"/>
          </a:xfrm>
          <a:prstGeom prst="rect">
            <a:avLst/>
          </a:prstGeom>
          <a:solidFill>
            <a:srgbClr val="17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600200"/>
            <a:ext cx="4974336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4966"/>
                </a:solidFill>
                <a:latin typeface="Liberation Sans"/>
              </a:rPr>
              <a:t>CNN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103120"/>
            <a:ext cx="4937760" cy="2569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Conv 16 → MaxPool → Conv 32 → MaxPool → Flatten → Dense 64 → Dense 5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1 848 677 parâmetros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166360"/>
            <a:ext cx="1069848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B5F46"/>
                </a:solidFill>
                <a:latin typeface="Liberation Sans"/>
              </a:rPr>
              <a:t>A CNN explora padrões locais; a MLP recebe os píxeis como vetor.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10881360" cy="52120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5F46"/>
                </a:solidFill>
                <a:latin typeface="Liberation Sans"/>
              </a:rPr>
              <a:t>Validação: reduzir o sobreajuste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D67"/>
                </a:solidFill>
                <a:latin typeface="Liberation Sans"/>
              </a:rPr>
              <a:t>Seleção feita antes de abrir o conjunto de teste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2801"/>
          </a:xfrm>
          <a:prstGeom prst="rect">
            <a:avLst/>
          </a:prstGeom>
          <a:solidFill>
            <a:srgbClr val="E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94183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D67"/>
                </a:solidFill>
                <a:latin typeface="Liberation Sans"/>
              </a:rPr>
              <a:t>HikeFlora  ·  Inteligência Computacional  ·  Meta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5F46"/>
                </a:solidFill>
                <a:latin typeface="Liberation Sans"/>
              </a:rPr>
              <a:t>05</a:t>
            </a:r>
          </a:p>
        </p:txBody>
      </p:sp>
      <p:pic>
        <p:nvPicPr>
          <p:cNvPr id="9" name="Picture 8" descr="valid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53312"/>
            <a:ext cx="7406640" cy="264330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21040" y="1417320"/>
            <a:ext cx="3182112" cy="4242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1417320"/>
            <a:ext cx="82296" cy="4242816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1554480"/>
            <a:ext cx="283464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5F46"/>
                </a:solidFill>
                <a:latin typeface="Liberation Sans"/>
              </a:rPr>
              <a:t>Escolha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057400"/>
            <a:ext cx="2798064" cy="34930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CNN + dropout 0,5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Menor val_loss: 0,7386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Época guardada: 6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val_accuracy: 72,18%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60720"/>
            <a:ext cx="1069848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F6D67"/>
                </a:solidFill>
                <a:latin typeface="Liberation Sans"/>
              </a:rPr>
              <a:t>Paragem e aumento de imagens também foram testados; o aumento não melhorou a validação.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10881360" cy="52120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5F46"/>
                </a:solidFill>
                <a:latin typeface="Liberation Sans"/>
              </a:rPr>
              <a:t>Teste independente: 1 100 imagens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D67"/>
                </a:solidFill>
                <a:latin typeface="Liberation Sans"/>
              </a:rPr>
              <a:t>MLP original vs. CNN com dropout escolhida pela validação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2801"/>
          </a:xfrm>
          <a:prstGeom prst="rect">
            <a:avLst/>
          </a:prstGeom>
          <a:solidFill>
            <a:srgbClr val="E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94183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D67"/>
                </a:solidFill>
                <a:latin typeface="Liberation Sans"/>
              </a:rPr>
              <a:t>HikeFlora  ·  Inteligência Computacional  ·  Meta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5F46"/>
                </a:solidFill>
                <a:latin typeface="Liberation Sans"/>
              </a:rPr>
              <a:t>06</a:t>
            </a:r>
          </a:p>
        </p:txBody>
      </p:sp>
      <p:pic>
        <p:nvPicPr>
          <p:cNvPr id="9" name="Picture 8" descr="metricas_te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7406640" cy="30710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84464" y="1463040"/>
            <a:ext cx="3227832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84464" y="1463040"/>
            <a:ext cx="82296" cy="3566160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600200"/>
            <a:ext cx="28803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5F46"/>
                </a:solidFill>
                <a:latin typeface="Liberation Sans"/>
              </a:rPr>
              <a:t>Resultado 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103120"/>
            <a:ext cx="2843784" cy="2816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CNN: 814 / 1 100 acertos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MLP: 523 / 1 100 acertos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+26,45 pontos de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15000"/>
            <a:ext cx="1060704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B5F46"/>
                </a:solidFill>
                <a:latin typeface="Liberation Sans"/>
              </a:rPr>
              <a:t>CNN: accuracy 74,00% · F1 macro 74,25% · AUC macro 93,49%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10881360" cy="52120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5F46"/>
                </a:solidFill>
                <a:latin typeface="Liberation Sans"/>
              </a:rPr>
              <a:t>Onde os modelos falham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D67"/>
                </a:solidFill>
                <a:latin typeface="Liberation Sans"/>
              </a:rPr>
              <a:t>Matrizes de confusão: linhas reais, colunas previstas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2801"/>
          </a:xfrm>
          <a:prstGeom prst="rect">
            <a:avLst/>
          </a:prstGeom>
          <a:solidFill>
            <a:srgbClr val="E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94183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D67"/>
                </a:solidFill>
                <a:latin typeface="Liberation Sans"/>
              </a:rPr>
              <a:t>HikeFlora  ·  Inteligência Computacional  ·  Meta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5F46"/>
                </a:solidFill>
                <a:latin typeface="Liberation Sans"/>
              </a:rPr>
              <a:t>07</a:t>
            </a:r>
          </a:p>
        </p:txBody>
      </p:sp>
      <p:pic>
        <p:nvPicPr>
          <p:cNvPr id="9" name="Picture 8" descr="matrizes_conf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8046720" cy="384865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32520" y="1600200"/>
            <a:ext cx="274320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32520" y="1600200"/>
            <a:ext cx="82296" cy="3566160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33688" y="1737360"/>
            <a:ext cx="239572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5F46"/>
                </a:solidFill>
                <a:latin typeface="Liberation Sans"/>
              </a:rPr>
              <a:t>Erros principais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3688" y="2240280"/>
            <a:ext cx="2359152" cy="2816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MLP: 165 morangueiros → trevo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CNN: 61 trevos → morangueiro; 45 gerânios → morangueiro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33288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F6D67"/>
                </a:solidFill>
                <a:latin typeface="Liberation Sans"/>
              </a:rPr>
              <a:t>A matriz mostra as classes confundidas; não explica sozinha a causa visual de cada erro.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01752"/>
            <a:ext cx="10881360" cy="52120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5F46"/>
                </a:solidFill>
                <a:latin typeface="Liberation Sans"/>
              </a:rPr>
              <a:t>Conclusões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D67"/>
                </a:solidFill>
                <a:latin typeface="Liberation Sans"/>
              </a:rPr>
              <a:t>O classificador é uma base para o HikeFlora; a aplicação completa ainda requer validação adicional.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2801"/>
          </a:xfrm>
          <a:prstGeom prst="rect">
            <a:avLst/>
          </a:prstGeom>
          <a:solidFill>
            <a:srgbClr val="E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01384"/>
            <a:ext cx="94183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D67"/>
                </a:solidFill>
                <a:latin typeface="Liberation Sans"/>
              </a:rPr>
              <a:t>HikeFlora  ·  Inteligência Computacional  ·  Meta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01384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B5F46"/>
                </a:solidFill>
                <a:latin typeface="Liberation San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71600"/>
            <a:ext cx="5239512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71600"/>
            <a:ext cx="82296" cy="3931920"/>
          </a:xfrm>
          <a:prstGeom prst="rect">
            <a:avLst/>
          </a:prstGeom>
          <a:solidFill>
            <a:srgbClr val="1B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508760"/>
            <a:ext cx="489204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5F46"/>
                </a:solidFill>
                <a:latin typeface="Liberation Sans"/>
              </a:rPr>
              <a:t>Conclusão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011680"/>
            <a:ext cx="4855464" cy="31821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A CNN com dropout superou a MLP em todas as métricas globais do teste.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A accuracy de teste (74,00%) ficou próxima da validação (72,18%).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371600"/>
            <a:ext cx="5321808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371600"/>
            <a:ext cx="82296" cy="3931920"/>
          </a:xfrm>
          <a:prstGeom prst="rect">
            <a:avLst/>
          </a:prstGeom>
          <a:solidFill>
            <a:srgbClr val="17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5" y="1508760"/>
            <a:ext cx="4974336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4966"/>
                </a:solidFill>
                <a:latin typeface="Liberation Sans"/>
              </a:rPr>
              <a:t>Próximas metas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2011680"/>
            <a:ext cx="4937760" cy="31821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2302A"/>
                </a:solidFill>
                <a:latin typeface="Liberation Sans"/>
              </a:rPr>
              <a:t>Analisar fotografias erradas; estudar espécies desconhecidas e resultado inconclusivo; validar em fotografias de caminhadas; acrescentar informação de risco com fontes.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24728"/>
            <a:ext cx="1069848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D67"/>
                </a:solidFill>
                <a:latin typeface="Liberation Sans"/>
              </a:rPr>
              <a:t>Fontes: enunciado Meta I; apresentação HikeFlora; Pl@ntNet-300K-v2 (Zenodo 10419064).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